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6" r:id="rId4"/>
    <p:sldId id="258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7" r:id="rId13"/>
    <p:sldId id="278" r:id="rId14"/>
    <p:sldId id="279" r:id="rId15"/>
    <p:sldId id="273" r:id="rId16"/>
    <p:sldId id="274" r:id="rId17"/>
    <p:sldId id="275" r:id="rId18"/>
    <p:sldId id="265" r:id="rId19"/>
  </p:sldIdLst>
  <p:sldSz cx="18288000" cy="10287000"/>
  <p:notesSz cx="6858000" cy="9144000"/>
  <p:embeddedFontLst>
    <p:embeddedFont>
      <p:font typeface="Helvetica World" panose="020B0604020202020204" charset="-128"/>
      <p:regular r:id="rId20"/>
    </p:embeddedFont>
    <p:embeddedFont>
      <p:font typeface="Abhaya Libre" panose="020B0604020202020204" charset="0"/>
      <p:regular r:id="rId21"/>
    </p:embeddedFont>
    <p:embeddedFont>
      <p:font typeface="Akar" panose="020B0604020202020204" charset="0"/>
      <p:regular r:id="rId22"/>
    </p:embeddedFont>
    <p:embeddedFont>
      <p:font typeface="Canva Sans" panose="020B0604020202020204" charset="0"/>
      <p:regular r:id="rId23"/>
    </p:embeddedFont>
    <p:embeddedFont>
      <p:font typeface="Canva Sa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6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41517" y="984427"/>
            <a:ext cx="15604965" cy="293738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6600" i="1" u="sng" spc="72" dirty="0">
                <a:solidFill>
                  <a:srgbClr val="262626"/>
                </a:solidFill>
                <a:latin typeface="Times New Roman" panose="02020603050405020304" pitchFamily="18" charset="0"/>
                <a:ea typeface="Helvetica World Italics"/>
                <a:cs typeface="Times New Roman" panose="02020603050405020304" pitchFamily="18" charset="0"/>
                <a:sym typeface="Helvetica World Italics"/>
              </a:rPr>
              <a:t> Blood Donation Management System</a:t>
            </a:r>
          </a:p>
          <a:p>
            <a:pPr algn="ctr">
              <a:lnSpc>
                <a:spcPts val="6402"/>
              </a:lnSpc>
            </a:pPr>
            <a:endParaRPr lang="en-US" sz="6600" i="1" spc="72" dirty="0">
              <a:solidFill>
                <a:srgbClr val="262626"/>
              </a:solidFill>
              <a:latin typeface="Times New Roman" panose="02020603050405020304" pitchFamily="18" charset="0"/>
              <a:ea typeface="Helvetica World Italics"/>
              <a:cs typeface="Times New Roman" panose="02020603050405020304" pitchFamily="18" charset="0"/>
              <a:sym typeface="Helvetica World Italics"/>
            </a:endParaRPr>
          </a:p>
          <a:p>
            <a:pPr algn="ctr">
              <a:lnSpc>
                <a:spcPts val="4656"/>
              </a:lnSpc>
            </a:pPr>
            <a:r>
              <a:rPr lang="en-US" sz="4800" spc="52" dirty="0">
                <a:solidFill>
                  <a:srgbClr val="262626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A simple system to find the right blood donor quickly.</a:t>
            </a:r>
          </a:p>
          <a:p>
            <a:pPr algn="ctr">
              <a:lnSpc>
                <a:spcPts val="4850"/>
              </a:lnSpc>
            </a:pPr>
            <a:endParaRPr lang="en-US" sz="4800" spc="52" dirty="0">
              <a:solidFill>
                <a:srgbClr val="262626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5125519" y="8138548"/>
            <a:ext cx="1457607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</a:pPr>
            <a:r>
              <a:rPr lang="en-US" sz="2800" b="1" dirty="0" err="1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Sajjadul</a:t>
            </a: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 Islam Noman</a:t>
            </a:r>
          </a:p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Id:2243081059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4886" y="5583162"/>
            <a:ext cx="15744028" cy="579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4800" u="sng" dirty="0">
                <a:solidFill>
                  <a:srgbClr val="262626"/>
                </a:solidFill>
                <a:latin typeface="Akar"/>
                <a:ea typeface="Akar"/>
                <a:cs typeface="Akar"/>
                <a:sym typeface="Akar"/>
              </a:rPr>
              <a:t>Presented By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524000" y="8138548"/>
            <a:ext cx="1457607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</a:pPr>
            <a:r>
              <a:rPr lang="en-US" sz="2800" b="1" dirty="0" err="1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Jihadul</a:t>
            </a: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 Islam Siam </a:t>
            </a:r>
          </a:p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Id:2243081047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62519" y="8137392"/>
            <a:ext cx="14576077" cy="101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MD. Abdul Karim </a:t>
            </a:r>
          </a:p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Id : 2243081080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84184" y="9855490"/>
            <a:ext cx="6132748" cy="43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sz="2511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Uttara University| 2025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E82A3AEC-788D-D9E4-8AFC-39722840CB32}"/>
              </a:ext>
            </a:extLst>
          </p:cNvPr>
          <p:cNvSpPr txBox="1"/>
          <p:nvPr/>
        </p:nvSpPr>
        <p:spPr>
          <a:xfrm>
            <a:off x="6096000" y="8137970"/>
            <a:ext cx="1457607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</a:pPr>
            <a:r>
              <a:rPr lang="en-US" sz="2800" b="1" dirty="0" err="1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Asadujjaman</a:t>
            </a: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 Nayeem </a:t>
            </a:r>
          </a:p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Id : 2243081055    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83CBD66B-233B-201E-A86C-2652E7CC40E5}"/>
              </a:ext>
            </a:extLst>
          </p:cNvPr>
          <p:cNvSpPr txBox="1"/>
          <p:nvPr/>
        </p:nvSpPr>
        <p:spPr>
          <a:xfrm>
            <a:off x="9486900" y="8201256"/>
            <a:ext cx="1457607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</a:pP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Nafis Khan  </a:t>
            </a:r>
          </a:p>
          <a:p>
            <a:pPr algn="ctr">
              <a:lnSpc>
                <a:spcPts val="4076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Id : 2243081070 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65F49D-6FEF-5EBD-FAC4-7E2220D00386}"/>
              </a:ext>
            </a:extLst>
          </p:cNvPr>
          <p:cNvSpPr/>
          <p:nvPr/>
        </p:nvSpPr>
        <p:spPr>
          <a:xfrm>
            <a:off x="7239000" y="6200220"/>
            <a:ext cx="4495800" cy="1036918"/>
          </a:xfrm>
          <a:prstGeom prst="roundRect">
            <a:avLst>
              <a:gd name="adj" fmla="val 35593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B032B1-1AF5-8B1D-5E01-F418ABC993C3}"/>
              </a:ext>
            </a:extLst>
          </p:cNvPr>
          <p:cNvSpPr txBox="1"/>
          <p:nvPr/>
        </p:nvSpPr>
        <p:spPr>
          <a:xfrm>
            <a:off x="7261274" y="6290589"/>
            <a:ext cx="4495800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Cinco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162DCC-6C99-D57B-CE43-044BE839900A}"/>
              </a:ext>
            </a:extLst>
          </p:cNvPr>
          <p:cNvSpPr/>
          <p:nvPr/>
        </p:nvSpPr>
        <p:spPr>
          <a:xfrm>
            <a:off x="5850340" y="357277"/>
            <a:ext cx="5712110" cy="1332042"/>
          </a:xfrm>
          <a:prstGeom prst="roundRect">
            <a:avLst>
              <a:gd name="adj" fmla="val 4945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867400" y="414353"/>
            <a:ext cx="5562600" cy="1228694"/>
          </a:xfrm>
          <a:custGeom>
            <a:avLst/>
            <a:gdLst/>
            <a:ahLst/>
            <a:cxnLst/>
            <a:rect l="l" t="t" r="r" b="b"/>
            <a:pathLst>
              <a:path w="754312" h="162158">
                <a:moveTo>
                  <a:pt x="81079" y="0"/>
                </a:moveTo>
                <a:lnTo>
                  <a:pt x="673233" y="0"/>
                </a:lnTo>
                <a:cubicBezTo>
                  <a:pt x="694736" y="0"/>
                  <a:pt x="715359" y="8542"/>
                  <a:pt x="730565" y="23748"/>
                </a:cubicBezTo>
                <a:cubicBezTo>
                  <a:pt x="745770" y="38953"/>
                  <a:pt x="754312" y="59576"/>
                  <a:pt x="754312" y="81079"/>
                </a:cubicBezTo>
                <a:lnTo>
                  <a:pt x="754312" y="81079"/>
                </a:lnTo>
                <a:cubicBezTo>
                  <a:pt x="754312" y="125858"/>
                  <a:pt x="718012" y="162158"/>
                  <a:pt x="673233" y="162158"/>
                </a:cubicBezTo>
                <a:lnTo>
                  <a:pt x="81079" y="162158"/>
                </a:lnTo>
                <a:cubicBezTo>
                  <a:pt x="36300" y="162158"/>
                  <a:pt x="0" y="125858"/>
                  <a:pt x="0" y="81079"/>
                </a:cubicBezTo>
                <a:lnTo>
                  <a:pt x="0" y="81079"/>
                </a:lnTo>
                <a:cubicBezTo>
                  <a:pt x="0" y="36300"/>
                  <a:pt x="36300" y="0"/>
                  <a:pt x="81079" y="0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16" name="TextBox 16"/>
          <p:cNvSpPr txBox="1"/>
          <p:nvPr/>
        </p:nvSpPr>
        <p:spPr>
          <a:xfrm>
            <a:off x="6581894" y="534858"/>
            <a:ext cx="4249001" cy="726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6"/>
              </a:lnSpc>
            </a:pPr>
            <a:r>
              <a:rPr lang="en-US" sz="3866" b="1" dirty="0"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Introduction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3889" y="-104775"/>
            <a:ext cx="394811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2DC105-9515-5A93-716B-C55505B8B423}"/>
              </a:ext>
            </a:extLst>
          </p:cNvPr>
          <p:cNvSpPr txBox="1"/>
          <p:nvPr/>
        </p:nvSpPr>
        <p:spPr>
          <a:xfrm>
            <a:off x="2291563" y="2933700"/>
            <a:ext cx="1370487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blood during an emergency is often hard and stressful. People may not know where to find the right donor quickly.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Donation Management System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simple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console application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connects blood donors with people who need blood based on location and blood group. The goal of this project is to make blood donation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easier, and more organized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5A4B-870F-E6EF-BAF7-C7CC14197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1B2530-38B5-652D-409A-3036F587643B}"/>
              </a:ext>
            </a:extLst>
          </p:cNvPr>
          <p:cNvSpPr/>
          <p:nvPr/>
        </p:nvSpPr>
        <p:spPr>
          <a:xfrm>
            <a:off x="5850340" y="357277"/>
            <a:ext cx="5712110" cy="1332042"/>
          </a:xfrm>
          <a:prstGeom prst="roundRect">
            <a:avLst>
              <a:gd name="adj" fmla="val 4945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FC59AF5-8DE8-6EF7-105C-7FB56F2112C5}"/>
              </a:ext>
            </a:extLst>
          </p:cNvPr>
          <p:cNvSpPr/>
          <p:nvPr/>
        </p:nvSpPr>
        <p:spPr>
          <a:xfrm>
            <a:off x="5867400" y="414353"/>
            <a:ext cx="5562600" cy="1228694"/>
          </a:xfrm>
          <a:custGeom>
            <a:avLst/>
            <a:gdLst/>
            <a:ahLst/>
            <a:cxnLst/>
            <a:rect l="l" t="t" r="r" b="b"/>
            <a:pathLst>
              <a:path w="754312" h="162158">
                <a:moveTo>
                  <a:pt x="81079" y="0"/>
                </a:moveTo>
                <a:lnTo>
                  <a:pt x="673233" y="0"/>
                </a:lnTo>
                <a:cubicBezTo>
                  <a:pt x="694736" y="0"/>
                  <a:pt x="715359" y="8542"/>
                  <a:pt x="730565" y="23748"/>
                </a:cubicBezTo>
                <a:cubicBezTo>
                  <a:pt x="745770" y="38953"/>
                  <a:pt x="754312" y="59576"/>
                  <a:pt x="754312" y="81079"/>
                </a:cubicBezTo>
                <a:lnTo>
                  <a:pt x="754312" y="81079"/>
                </a:lnTo>
                <a:cubicBezTo>
                  <a:pt x="754312" y="125858"/>
                  <a:pt x="718012" y="162158"/>
                  <a:pt x="673233" y="162158"/>
                </a:cubicBezTo>
                <a:lnTo>
                  <a:pt x="81079" y="162158"/>
                </a:lnTo>
                <a:cubicBezTo>
                  <a:pt x="36300" y="162158"/>
                  <a:pt x="0" y="125858"/>
                  <a:pt x="0" y="81079"/>
                </a:cubicBezTo>
                <a:lnTo>
                  <a:pt x="0" y="81079"/>
                </a:lnTo>
                <a:cubicBezTo>
                  <a:pt x="0" y="36300"/>
                  <a:pt x="36300" y="0"/>
                  <a:pt x="81079" y="0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F5D334E-4DD1-B071-367B-99F3AE04C21D}"/>
              </a:ext>
            </a:extLst>
          </p:cNvPr>
          <p:cNvSpPr txBox="1"/>
          <p:nvPr/>
        </p:nvSpPr>
        <p:spPr>
          <a:xfrm>
            <a:off x="6129942" y="541639"/>
            <a:ext cx="5152906" cy="712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86"/>
              </a:lnSpc>
            </a:pPr>
            <a:r>
              <a:rPr lang="en-US" sz="3866" b="1" dirty="0"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Objective of the project 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C725139-EE94-7AFA-90A9-68C96F5F8E83}"/>
              </a:ext>
            </a:extLst>
          </p:cNvPr>
          <p:cNvSpPr txBox="1"/>
          <p:nvPr/>
        </p:nvSpPr>
        <p:spPr>
          <a:xfrm>
            <a:off x="633889" y="-104775"/>
            <a:ext cx="394811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453EF-30C5-520F-5132-783ECD35D767}"/>
              </a:ext>
            </a:extLst>
          </p:cNvPr>
          <p:cNvSpPr txBox="1"/>
          <p:nvPr/>
        </p:nvSpPr>
        <p:spPr>
          <a:xfrm>
            <a:off x="1981200" y="2552700"/>
            <a:ext cx="160782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system that connects blood donors with people who need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find suitable blood donors quickly in emergency situations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manage donor and consumer information in an organized way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consumers to send blood requests easily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 Object-Oriented Programming (OOP) concepts in a real-life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143874784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AD8BD3-1F3A-8410-E005-AFF2B31C9B1B}"/>
              </a:ext>
            </a:extLst>
          </p:cNvPr>
          <p:cNvSpPr/>
          <p:nvPr/>
        </p:nvSpPr>
        <p:spPr>
          <a:xfrm>
            <a:off x="5134515" y="414353"/>
            <a:ext cx="9477375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1916127" y="2718491"/>
            <a:ext cx="14831172" cy="7059842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22346" y="671868"/>
            <a:ext cx="10701711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000000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Features of the System:</a:t>
            </a:r>
          </a:p>
          <a:p>
            <a:pPr algn="ctr">
              <a:lnSpc>
                <a:spcPts val="7039"/>
              </a:lnSpc>
            </a:pPr>
            <a:endParaRPr lang="en-US" sz="6399" b="1" dirty="0">
              <a:solidFill>
                <a:srgbClr val="000000"/>
              </a:solidFill>
              <a:latin typeface="Times New Roman" panose="02020603050405020304" pitchFamily="18" charset="0"/>
              <a:ea typeface="Helvetica World Bold"/>
              <a:cs typeface="Times New Roman" panose="02020603050405020304" pitchFamily="18" charset="0"/>
              <a:sym typeface="Helvetica Worl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90800" y="3992472"/>
            <a:ext cx="12145451" cy="608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4817" lvl="1" indent="-407409" algn="l">
              <a:lnSpc>
                <a:spcPts val="6038"/>
              </a:lnSpc>
              <a:buFont typeface="Arial"/>
              <a:buChar char="•"/>
            </a:pPr>
            <a:r>
              <a:rPr lang="en-US" sz="3774" b="1" dirty="0"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User Management</a:t>
            </a:r>
          </a:p>
          <a:p>
            <a:pPr marL="814817" lvl="1" indent="-407409" algn="l">
              <a:lnSpc>
                <a:spcPts val="6038"/>
              </a:lnSpc>
              <a:buFont typeface="Arial"/>
              <a:buChar char="•"/>
            </a:pPr>
            <a:r>
              <a:rPr lang="en-US" sz="3774" b="1" dirty="0"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Donor Features</a:t>
            </a:r>
          </a:p>
          <a:p>
            <a:pPr marL="814817" lvl="1" indent="-407409" algn="l">
              <a:lnSpc>
                <a:spcPts val="6038"/>
              </a:lnSpc>
              <a:buFont typeface="Arial"/>
              <a:buChar char="•"/>
            </a:pPr>
            <a:r>
              <a:rPr lang="en-US" sz="3774" b="1" dirty="0"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Consumer Features </a:t>
            </a:r>
          </a:p>
          <a:p>
            <a:pPr marL="814817" lvl="1" indent="-407409" algn="l">
              <a:lnSpc>
                <a:spcPts val="6038"/>
              </a:lnSpc>
              <a:buFont typeface="Arial"/>
              <a:buChar char="•"/>
            </a:pPr>
            <a:r>
              <a:rPr lang="en-US" sz="3774" b="1" dirty="0"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 Blood Request Management</a:t>
            </a:r>
          </a:p>
          <a:p>
            <a:pPr marL="814817" lvl="1" indent="-407409" algn="l">
              <a:lnSpc>
                <a:spcPts val="6038"/>
              </a:lnSpc>
              <a:buFont typeface="Arial"/>
              <a:buChar char="•"/>
            </a:pPr>
            <a:r>
              <a:rPr lang="en-US" sz="3774" b="1" dirty="0"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Donor Search</a:t>
            </a:r>
          </a:p>
          <a:p>
            <a:pPr marL="814817" lvl="1" indent="-407409" algn="l">
              <a:lnSpc>
                <a:spcPts val="6038"/>
              </a:lnSpc>
              <a:buFont typeface="Arial"/>
              <a:buChar char="•"/>
            </a:pPr>
            <a:r>
              <a:rPr lang="en-US" sz="3774" b="1" dirty="0"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Programming and Design  Features</a:t>
            </a:r>
          </a:p>
          <a:p>
            <a:pPr marL="814817" lvl="1" indent="-407409" algn="l">
              <a:lnSpc>
                <a:spcPts val="6038"/>
              </a:lnSpc>
              <a:buFont typeface="Arial"/>
              <a:buChar char="•"/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22518" y="-104775"/>
            <a:ext cx="417552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1004-EBD0-D475-B24C-9B3CD8FB0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2D6AB8-ED50-0F40-12C1-5927A5523E0A}"/>
              </a:ext>
            </a:extLst>
          </p:cNvPr>
          <p:cNvSpPr/>
          <p:nvPr/>
        </p:nvSpPr>
        <p:spPr>
          <a:xfrm>
            <a:off x="5134515" y="414353"/>
            <a:ext cx="9477375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B5E76314-8298-2C0F-174D-F5BFCC22450A}"/>
              </a:ext>
            </a:extLst>
          </p:cNvPr>
          <p:cNvGrpSpPr/>
          <p:nvPr/>
        </p:nvGrpSpPr>
        <p:grpSpPr>
          <a:xfrm>
            <a:off x="1936599" y="2812805"/>
            <a:ext cx="14831172" cy="7059842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4F3583-C109-FE12-7039-4238A46DE87D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A1FF0E8-800D-26A6-D5B6-AC68BC073C30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C7F4629-8C20-F149-923D-67305FD26B51}"/>
              </a:ext>
            </a:extLst>
          </p:cNvPr>
          <p:cNvSpPr txBox="1"/>
          <p:nvPr/>
        </p:nvSpPr>
        <p:spPr>
          <a:xfrm>
            <a:off x="4522346" y="671868"/>
            <a:ext cx="10701711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000000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User Management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55149C-A31E-E795-0605-7F64BDD61990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558F018-F4DE-C186-0FFF-6E767A2F239A}"/>
              </a:ext>
            </a:extLst>
          </p:cNvPr>
          <p:cNvSpPr txBox="1"/>
          <p:nvPr/>
        </p:nvSpPr>
        <p:spPr>
          <a:xfrm>
            <a:off x="622518" y="-104775"/>
            <a:ext cx="417552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6C0C1-92BD-309A-42FD-3F7D47C600F9}"/>
              </a:ext>
            </a:extLst>
          </p:cNvPr>
          <p:cNvSpPr txBox="1"/>
          <p:nvPr/>
        </p:nvSpPr>
        <p:spPr>
          <a:xfrm>
            <a:off x="2328426" y="3218794"/>
            <a:ext cx="13106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new donors and consumers to create an account.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users log in using phone number and password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Validation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multiple accounts using the same phone number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Protection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user passwords secure using private variables.</a:t>
            </a:r>
          </a:p>
        </p:txBody>
      </p:sp>
    </p:spTree>
    <p:extLst>
      <p:ext uri="{BB962C8B-B14F-4D97-AF65-F5344CB8AC3E}">
        <p14:creationId xmlns:p14="http://schemas.microsoft.com/office/powerpoint/2010/main" val="235902156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11762-019E-46D4-4A1B-FFE32AD83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3D65FD-5F17-D9FE-AFB1-79FDCCDDBB20}"/>
              </a:ext>
            </a:extLst>
          </p:cNvPr>
          <p:cNvSpPr/>
          <p:nvPr/>
        </p:nvSpPr>
        <p:spPr>
          <a:xfrm>
            <a:off x="5134515" y="414353"/>
            <a:ext cx="9477375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A19EA534-992C-EBA1-AAE8-0C0288A548AE}"/>
              </a:ext>
            </a:extLst>
          </p:cNvPr>
          <p:cNvGrpSpPr/>
          <p:nvPr/>
        </p:nvGrpSpPr>
        <p:grpSpPr>
          <a:xfrm>
            <a:off x="1936599" y="2812805"/>
            <a:ext cx="14831172" cy="7059842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BEE263-E86A-E01F-C938-94E392C55178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62E9A20-D61C-30B6-BCB5-C47DEEC397F7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AB83519-05FC-102F-3199-38B756CC3F90}"/>
              </a:ext>
            </a:extLst>
          </p:cNvPr>
          <p:cNvSpPr txBox="1"/>
          <p:nvPr/>
        </p:nvSpPr>
        <p:spPr>
          <a:xfrm>
            <a:off x="4522346" y="671868"/>
            <a:ext cx="10701711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000000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Donor Features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A5B6EC0-1539-6CCE-EAA7-9C06D18CA3ED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A5124A5-9204-9685-7363-0C7F28E21F3D}"/>
              </a:ext>
            </a:extLst>
          </p:cNvPr>
          <p:cNvSpPr txBox="1"/>
          <p:nvPr/>
        </p:nvSpPr>
        <p:spPr>
          <a:xfrm>
            <a:off x="622518" y="-104775"/>
            <a:ext cx="417552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CF71C20-B51B-A466-BDD6-70968B327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85CB3B-4EA0-506E-49B9-639FD293C6DD}"/>
              </a:ext>
            </a:extLst>
          </p:cNvPr>
          <p:cNvSpPr txBox="1"/>
          <p:nvPr/>
        </p:nvSpPr>
        <p:spPr>
          <a:xfrm>
            <a:off x="2730941" y="3007255"/>
            <a:ext cx="1334725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Donor Profile Creation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Donors can create an account with basic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Edit Donor Details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Donors can update address and blood group anytime.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View Blood Requests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Donors can see nearby blood requests that match their blood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Accept Blood Request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Donors can accept a request and help a patient.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View Accepted Requests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Donors can see the requests they already accepted.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Last Donation Tracking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The system stores the donor’s last blood donation date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25187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59520-08B2-44C2-02A6-D415BE188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44AF310-2F2B-8588-D874-BCBFAF8DA298}"/>
              </a:ext>
            </a:extLst>
          </p:cNvPr>
          <p:cNvSpPr/>
          <p:nvPr/>
        </p:nvSpPr>
        <p:spPr>
          <a:xfrm>
            <a:off x="5010761" y="393695"/>
            <a:ext cx="8682845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Features 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1B331204-664D-7274-A392-36F57D22307B}"/>
              </a:ext>
            </a:extLst>
          </p:cNvPr>
          <p:cNvGrpSpPr/>
          <p:nvPr/>
        </p:nvGrpSpPr>
        <p:grpSpPr>
          <a:xfrm>
            <a:off x="1936599" y="2812805"/>
            <a:ext cx="14831172" cy="7059842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156A38-FF92-6369-A051-D57969AF2564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324CDCA-24D1-75A7-8410-7A443090FC99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sz="4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E06DD415-91CB-0A41-927C-ED2DEFDAC0E4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4000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C9E05C9-834D-CFBC-B06C-71D350DB261D}"/>
              </a:ext>
            </a:extLst>
          </p:cNvPr>
          <p:cNvSpPr txBox="1"/>
          <p:nvPr/>
        </p:nvSpPr>
        <p:spPr>
          <a:xfrm>
            <a:off x="622518" y="-104775"/>
            <a:ext cx="417552" cy="99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6000" b="1" dirty="0">
                <a:latin typeface="Canva Sans Bold" panose="020B0604020202020204" charset="0"/>
                <a:ea typeface="Canva Sans Bold"/>
                <a:cs typeface="Times New Roman" panose="02020603050405020304" pitchFamily="18" charset="0"/>
                <a:sym typeface="Canva Sans Bold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425A95-69C0-037F-34F2-5DD5A5F32C35}"/>
              </a:ext>
            </a:extLst>
          </p:cNvPr>
          <p:cNvSpPr txBox="1"/>
          <p:nvPr/>
        </p:nvSpPr>
        <p:spPr>
          <a:xfrm>
            <a:off x="2678555" y="3162300"/>
            <a:ext cx="133472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Profile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can view their personal account information.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Blood Request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can request blood by entering location, hospital, and time.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Request Status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can check if their request is accepted or not.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24574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38D2D-C421-6E88-ED8C-03036026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8D97BA-9731-9ABF-440B-B07694D7DCEC}"/>
              </a:ext>
            </a:extLst>
          </p:cNvPr>
          <p:cNvSpPr/>
          <p:nvPr/>
        </p:nvSpPr>
        <p:spPr>
          <a:xfrm>
            <a:off x="4522347" y="414353"/>
            <a:ext cx="10565254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909C7EDF-03BE-6DE6-CA81-980FEA8FCBBD}"/>
              </a:ext>
            </a:extLst>
          </p:cNvPr>
          <p:cNvGrpSpPr/>
          <p:nvPr/>
        </p:nvGrpSpPr>
        <p:grpSpPr>
          <a:xfrm>
            <a:off x="1936599" y="2812805"/>
            <a:ext cx="14831172" cy="7059842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B9A0BC2-4CE4-A46B-C782-B00FCC7FC0F8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02A77AF-7A8B-9E74-868E-F961D99B1749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DB3645AD-6FF1-46C5-22A4-ADAFD6B8FEE4}"/>
              </a:ext>
            </a:extLst>
          </p:cNvPr>
          <p:cNvSpPr txBox="1"/>
          <p:nvPr/>
        </p:nvSpPr>
        <p:spPr>
          <a:xfrm>
            <a:off x="4522346" y="671868"/>
            <a:ext cx="10701711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000000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Blood Request Management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4AC0E9D-9775-5E5A-B74A-E8E2E1FAA1E8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F1DD7F8-3B0C-79B3-04EA-912A5FF8ABD2}"/>
              </a:ext>
            </a:extLst>
          </p:cNvPr>
          <p:cNvSpPr txBox="1"/>
          <p:nvPr/>
        </p:nvSpPr>
        <p:spPr>
          <a:xfrm>
            <a:off x="622518" y="-104775"/>
            <a:ext cx="417552" cy="99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64CF346-FE45-14DA-6083-0B3B6B263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81859-D43A-92BD-3AC4-9F93C54F4E29}"/>
              </a:ext>
            </a:extLst>
          </p:cNvPr>
          <p:cNvSpPr txBox="1"/>
          <p:nvPr/>
        </p:nvSpPr>
        <p:spPr>
          <a:xfrm>
            <a:off x="2667000" y="3703107"/>
            <a:ext cx="1270945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Create Blood Request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Stores blood group, quantity, date, time, and hospital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Automatic Request ID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Each request gets a unique ID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Date and Time Handling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Date and time are stored using the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Request Acceptance System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Once accepted, donor details are saved with the request. </a:t>
            </a:r>
          </a:p>
        </p:txBody>
      </p:sp>
    </p:spTree>
    <p:extLst>
      <p:ext uri="{BB962C8B-B14F-4D97-AF65-F5344CB8AC3E}">
        <p14:creationId xmlns:p14="http://schemas.microsoft.com/office/powerpoint/2010/main" val="3571426882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AF3E6-D0EE-1F69-25D4-2A32E01BA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54079F-A6AC-C66A-381C-790E79B45226}"/>
              </a:ext>
            </a:extLst>
          </p:cNvPr>
          <p:cNvSpPr/>
          <p:nvPr/>
        </p:nvSpPr>
        <p:spPr>
          <a:xfrm>
            <a:off x="5821327" y="515620"/>
            <a:ext cx="6400801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Donor Search 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72338A62-0B6C-3786-45DC-FDFEF27EB2F5}"/>
              </a:ext>
            </a:extLst>
          </p:cNvPr>
          <p:cNvGrpSpPr/>
          <p:nvPr/>
        </p:nvGrpSpPr>
        <p:grpSpPr>
          <a:xfrm>
            <a:off x="1936599" y="2812805"/>
            <a:ext cx="14831172" cy="7059842"/>
            <a:chOff x="0" y="0"/>
            <a:chExt cx="2691003" cy="1280954"/>
          </a:xfrm>
          <a:solidFill>
            <a:schemeClr val="bg1"/>
          </a:solidFill>
          <a:effectLst/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247169-D0F1-A1DD-6735-12F0041352D7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1CE2160-34C3-0975-BC77-81AFB4575893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BB55C90E-35E5-4B8F-7DF6-FC4A8542CDA6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3EA025E-A6E4-3C28-5478-AAFB7896304E}"/>
              </a:ext>
            </a:extLst>
          </p:cNvPr>
          <p:cNvSpPr txBox="1"/>
          <p:nvPr/>
        </p:nvSpPr>
        <p:spPr>
          <a:xfrm>
            <a:off x="622518" y="-104775"/>
            <a:ext cx="417552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46ABA5D-F926-1861-630C-71556B877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8E335F-7DD4-0807-1D50-FB9A5C8E15ED}"/>
              </a:ext>
            </a:extLst>
          </p:cNvPr>
          <p:cNvSpPr txBox="1"/>
          <p:nvPr/>
        </p:nvSpPr>
        <p:spPr>
          <a:xfrm>
            <a:off x="2666998" y="3484539"/>
            <a:ext cx="1270945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Search Donors by Location</a:t>
            </a: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Finds donors based on division, district, and thana.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Blood Group Matching</a:t>
            </a: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Shows only donors with the required blood group.</a:t>
            </a:r>
          </a:p>
        </p:txBody>
      </p:sp>
    </p:spTree>
    <p:extLst>
      <p:ext uri="{BB962C8B-B14F-4D97-AF65-F5344CB8AC3E}">
        <p14:creationId xmlns:p14="http://schemas.microsoft.com/office/powerpoint/2010/main" val="104107428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2EC9-B840-5EAE-5384-1B3BC6E8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6C52E28-7EF5-F6D1-A797-4B312960F897}"/>
              </a:ext>
            </a:extLst>
          </p:cNvPr>
          <p:cNvSpPr/>
          <p:nvPr/>
        </p:nvSpPr>
        <p:spPr>
          <a:xfrm>
            <a:off x="5821327" y="515620"/>
            <a:ext cx="7666073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&amp; Design Features 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C9219BC-7F16-7D42-77A4-E4C71BE52CC7}"/>
              </a:ext>
            </a:extLst>
          </p:cNvPr>
          <p:cNvGrpSpPr/>
          <p:nvPr/>
        </p:nvGrpSpPr>
        <p:grpSpPr>
          <a:xfrm>
            <a:off x="1936599" y="2812805"/>
            <a:ext cx="14831172" cy="7059842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757DE92-A99B-23E6-286A-396D9995060F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DB842CA-3B6A-851B-1286-120CA5097747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151AFC5-3E1C-0471-1D05-BAB1A394C093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1ED670D-CB03-A774-89BC-EE524B69189F}"/>
              </a:ext>
            </a:extLst>
          </p:cNvPr>
          <p:cNvSpPr txBox="1"/>
          <p:nvPr/>
        </p:nvSpPr>
        <p:spPr>
          <a:xfrm>
            <a:off x="622518" y="-104775"/>
            <a:ext cx="417552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06C20B7-22D0-73BF-2C86-FF1B7E8CD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DAF9F-CE72-A1F4-7C9B-CEE2C6DB5793}"/>
              </a:ext>
            </a:extLst>
          </p:cNvPr>
          <p:cNvSpPr txBox="1"/>
          <p:nvPr/>
        </p:nvSpPr>
        <p:spPr>
          <a:xfrm>
            <a:off x="2666998" y="3484539"/>
            <a:ext cx="140208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Console-Based System</a:t>
            </a: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application runs using a menu-driven console interface.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OOP-Based Design</a:t>
            </a: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system is built using Object-Oriented Programming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concepts.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Error Handling</a:t>
            </a: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Prevents system crash using try-catch blocks.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Centralized Data Management</a:t>
            </a: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Uses static classes to manage users and blood requests.</a:t>
            </a:r>
          </a:p>
        </p:txBody>
      </p:sp>
    </p:spTree>
    <p:extLst>
      <p:ext uri="{BB962C8B-B14F-4D97-AF65-F5344CB8AC3E}">
        <p14:creationId xmlns:p14="http://schemas.microsoft.com/office/powerpoint/2010/main" val="421610422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8108D-86CC-3895-0005-7BB85784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0E90E7-A126-7E02-A916-3CF997361B93}"/>
              </a:ext>
            </a:extLst>
          </p:cNvPr>
          <p:cNvSpPr/>
          <p:nvPr/>
        </p:nvSpPr>
        <p:spPr>
          <a:xfrm>
            <a:off x="5821327" y="515620"/>
            <a:ext cx="7666073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 Concept Used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F97172B-203A-214F-691E-11D7DB20B159}"/>
              </a:ext>
            </a:extLst>
          </p:cNvPr>
          <p:cNvGrpSpPr/>
          <p:nvPr/>
        </p:nvGrpSpPr>
        <p:grpSpPr>
          <a:xfrm>
            <a:off x="1936599" y="2812804"/>
            <a:ext cx="14831172" cy="7294305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811B528-5BE3-0FAF-697E-33DCBD3DC5E6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0F2DC46-19FC-ED16-2727-ADC1FDF3E0A6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22097CC-BA6B-C5F8-AC91-7F45D64BD370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85A7DB1-0749-41A6-DDC1-F4F48D7E2222}"/>
              </a:ext>
            </a:extLst>
          </p:cNvPr>
          <p:cNvSpPr txBox="1"/>
          <p:nvPr/>
        </p:nvSpPr>
        <p:spPr>
          <a:xfrm>
            <a:off x="622518" y="-104775"/>
            <a:ext cx="1053882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E45FFA-3BA5-6CF5-9B3A-46034A481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6B4AB9-C9B1-8EA5-BE34-567DB1838E6F}"/>
              </a:ext>
            </a:extLst>
          </p:cNvPr>
          <p:cNvSpPr txBox="1"/>
          <p:nvPr/>
        </p:nvSpPr>
        <p:spPr>
          <a:xfrm>
            <a:off x="2431341" y="3109777"/>
            <a:ext cx="1456977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Class &amp; Object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system is built using classes like Person, Donor, Consumer and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BloodRequest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Inheritance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Doner and Consumer inherit common properties from the Person class.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Encapsulation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User password is protected using private variables and public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properties.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Abstraction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abstract Request class hides common request details and is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implemented by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BloodRequest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Method Reusability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Common operations are reused through methods in management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classes. </a:t>
            </a:r>
          </a:p>
        </p:txBody>
      </p:sp>
    </p:spTree>
    <p:extLst>
      <p:ext uri="{BB962C8B-B14F-4D97-AF65-F5344CB8AC3E}">
        <p14:creationId xmlns:p14="http://schemas.microsoft.com/office/powerpoint/2010/main" val="90184083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23A37-937C-DEAB-40F2-D8A34AE2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43D7DD-26C4-C1DE-0AFF-22864E727EB8}"/>
              </a:ext>
            </a:extLst>
          </p:cNvPr>
          <p:cNvSpPr/>
          <p:nvPr/>
        </p:nvSpPr>
        <p:spPr>
          <a:xfrm>
            <a:off x="6115050" y="368329"/>
            <a:ext cx="6057900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 Registration 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7A1B662-7A19-2227-008E-BC208DE95277}"/>
              </a:ext>
            </a:extLst>
          </p:cNvPr>
          <p:cNvSpPr txBox="1"/>
          <p:nvPr/>
        </p:nvSpPr>
        <p:spPr>
          <a:xfrm>
            <a:off x="622518" y="-104775"/>
            <a:ext cx="901482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F0D05A-6E81-B011-72E7-D4B4F57BE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3358F-119A-0048-6F4A-1A0F55B2E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" t="1246" r="32610" b="-1246"/>
          <a:stretch>
            <a:fillRect/>
          </a:stretch>
        </p:blipFill>
        <p:spPr>
          <a:xfrm>
            <a:off x="4572000" y="2328073"/>
            <a:ext cx="4114800" cy="75262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A127AD-23DD-8EC1-35D4-1E8A01A83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21"/>
          <a:stretch>
            <a:fillRect/>
          </a:stretch>
        </p:blipFill>
        <p:spPr>
          <a:xfrm>
            <a:off x="12687300" y="2431563"/>
            <a:ext cx="3733800" cy="73192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639D5D2-E48F-E000-FFE7-C9E513340BC4}"/>
              </a:ext>
            </a:extLst>
          </p:cNvPr>
          <p:cNvSpPr txBox="1"/>
          <p:nvPr/>
        </p:nvSpPr>
        <p:spPr>
          <a:xfrm>
            <a:off x="1268670" y="4762500"/>
            <a:ext cx="33033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Registration: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D6E2DF-E4EA-50CD-AC9F-A9A3B9C05EBE}"/>
              </a:ext>
            </a:extLst>
          </p:cNvPr>
          <p:cNvSpPr txBox="1"/>
          <p:nvPr/>
        </p:nvSpPr>
        <p:spPr>
          <a:xfrm>
            <a:off x="9146275" y="4742597"/>
            <a:ext cx="33033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Registration: </a:t>
            </a:r>
          </a:p>
        </p:txBody>
      </p:sp>
    </p:spTree>
    <p:extLst>
      <p:ext uri="{BB962C8B-B14F-4D97-AF65-F5344CB8AC3E}">
        <p14:creationId xmlns:p14="http://schemas.microsoft.com/office/powerpoint/2010/main" val="399230145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E0182-D92A-32A9-8889-EFDCFBC7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15F3EF-CF9B-B6AF-8B78-E0F0E1581ADF}"/>
              </a:ext>
            </a:extLst>
          </p:cNvPr>
          <p:cNvSpPr/>
          <p:nvPr/>
        </p:nvSpPr>
        <p:spPr>
          <a:xfrm>
            <a:off x="6115050" y="368329"/>
            <a:ext cx="6057900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Donor section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C4A4F24-4270-6D99-EAB2-91CC7EFAFE5E}"/>
              </a:ext>
            </a:extLst>
          </p:cNvPr>
          <p:cNvSpPr txBox="1"/>
          <p:nvPr/>
        </p:nvSpPr>
        <p:spPr>
          <a:xfrm>
            <a:off x="622518" y="-104775"/>
            <a:ext cx="901482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98153AE-B7EC-A837-E7D6-B13435C79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B8EFE-B4D8-8ED0-37CC-4C51EE58C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792" y="2627957"/>
            <a:ext cx="4236208" cy="69747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ABA189-7E38-A80C-BAA0-D636581B5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" t="14" r="26562" b="-14"/>
          <a:stretch>
            <a:fillRect/>
          </a:stretch>
        </p:blipFill>
        <p:spPr>
          <a:xfrm>
            <a:off x="10744200" y="2627957"/>
            <a:ext cx="4236208" cy="69738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214EFA-CDF3-023B-3F37-62C4DCB0840F}"/>
              </a:ext>
            </a:extLst>
          </p:cNvPr>
          <p:cNvSpPr txBox="1"/>
          <p:nvPr/>
        </p:nvSpPr>
        <p:spPr>
          <a:xfrm>
            <a:off x="855178" y="4991100"/>
            <a:ext cx="3848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profile  : </a:t>
            </a:r>
          </a:p>
        </p:txBody>
      </p:sp>
    </p:spTree>
    <p:extLst>
      <p:ext uri="{BB962C8B-B14F-4D97-AF65-F5344CB8AC3E}">
        <p14:creationId xmlns:p14="http://schemas.microsoft.com/office/powerpoint/2010/main" val="3189130296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69B2-10D1-E046-287A-551148E8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898807-ACDE-C907-B426-15490DDF4F65}"/>
              </a:ext>
            </a:extLst>
          </p:cNvPr>
          <p:cNvSpPr/>
          <p:nvPr/>
        </p:nvSpPr>
        <p:spPr>
          <a:xfrm>
            <a:off x="5495925" y="396558"/>
            <a:ext cx="7296150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Consumer section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3850BB0-39B5-873C-2C5C-8B5D6823A501}"/>
              </a:ext>
            </a:extLst>
          </p:cNvPr>
          <p:cNvSpPr txBox="1"/>
          <p:nvPr/>
        </p:nvSpPr>
        <p:spPr>
          <a:xfrm>
            <a:off x="622518" y="-104775"/>
            <a:ext cx="901482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6428CD-72F4-5056-EFEF-83E05BD3F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A142E-1400-E357-5EF1-2C4B2167F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4317"/>
          <a:stretch>
            <a:fillRect/>
          </a:stretch>
        </p:blipFill>
        <p:spPr>
          <a:xfrm>
            <a:off x="5105400" y="2426458"/>
            <a:ext cx="4365150" cy="6984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2A1CD3-70A1-DD00-C04E-C2411D824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9775"/>
          <a:stretch>
            <a:fillRect/>
          </a:stretch>
        </p:blipFill>
        <p:spPr>
          <a:xfrm>
            <a:off x="10896599" y="2426458"/>
            <a:ext cx="4379473" cy="6984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E25DD5-3BA7-0B8B-9929-1F7525F94668}"/>
              </a:ext>
            </a:extLst>
          </p:cNvPr>
          <p:cNvSpPr txBox="1"/>
          <p:nvPr/>
        </p:nvSpPr>
        <p:spPr>
          <a:xfrm>
            <a:off x="1943099" y="4762500"/>
            <a:ext cx="3124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 profile : </a:t>
            </a:r>
          </a:p>
        </p:txBody>
      </p:sp>
    </p:spTree>
    <p:extLst>
      <p:ext uri="{BB962C8B-B14F-4D97-AF65-F5344CB8AC3E}">
        <p14:creationId xmlns:p14="http://schemas.microsoft.com/office/powerpoint/2010/main" val="246721213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97A25-2DB3-20DC-7C92-D1C1389B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A32F1A-9965-3968-5018-F054FC5F4953}"/>
              </a:ext>
            </a:extLst>
          </p:cNvPr>
          <p:cNvSpPr/>
          <p:nvPr/>
        </p:nvSpPr>
        <p:spPr>
          <a:xfrm>
            <a:off x="5676900" y="501663"/>
            <a:ext cx="6934200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and Benefits 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EA8CBC0-789F-BAE2-B69D-1B4CD724ACD8}"/>
              </a:ext>
            </a:extLst>
          </p:cNvPr>
          <p:cNvGrpSpPr/>
          <p:nvPr/>
        </p:nvGrpSpPr>
        <p:grpSpPr>
          <a:xfrm>
            <a:off x="1936599" y="2812805"/>
            <a:ext cx="14831172" cy="6826496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7C08DEC-BA2E-9948-8DFB-576A145B2BC4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E23870-B839-2265-407C-BEBFDF6054D8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26E24001-E840-2F20-86B0-30A5344185F1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911D4F1-B7B2-AB72-88A5-902AA70DB97A}"/>
              </a:ext>
            </a:extLst>
          </p:cNvPr>
          <p:cNvSpPr txBox="1"/>
          <p:nvPr/>
        </p:nvSpPr>
        <p:spPr>
          <a:xfrm>
            <a:off x="533400" y="-154527"/>
            <a:ext cx="1053882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FE01750-E46C-088B-2008-B4C425643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0A143-01A3-EABF-F173-563CA5FFCD43}"/>
              </a:ext>
            </a:extLst>
          </p:cNvPr>
          <p:cNvSpPr txBox="1"/>
          <p:nvPr/>
        </p:nvSpPr>
        <p:spPr>
          <a:xfrm>
            <a:off x="2711601" y="4218916"/>
            <a:ext cx="136398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Helps find blood donors quickly in emergency situations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Connects donors and patients by location and blood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Saves time by showing only matching blood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Keeps donor and patient information organized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Easy to use with a simple menu-based system</a:t>
            </a:r>
          </a:p>
        </p:txBody>
      </p:sp>
    </p:spTree>
    <p:extLst>
      <p:ext uri="{BB962C8B-B14F-4D97-AF65-F5344CB8AC3E}">
        <p14:creationId xmlns:p14="http://schemas.microsoft.com/office/powerpoint/2010/main" val="1326459137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98B9-CFE0-A120-E3B1-BB42FE7C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06E298-C067-73AB-E5C0-472C2B6633CA}"/>
              </a:ext>
            </a:extLst>
          </p:cNvPr>
          <p:cNvSpPr/>
          <p:nvPr/>
        </p:nvSpPr>
        <p:spPr>
          <a:xfrm>
            <a:off x="5676900" y="501663"/>
            <a:ext cx="8343900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Faced during Development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18310A1-9842-5A2A-619C-775EE00910B1}"/>
              </a:ext>
            </a:extLst>
          </p:cNvPr>
          <p:cNvGrpSpPr/>
          <p:nvPr/>
        </p:nvGrpSpPr>
        <p:grpSpPr>
          <a:xfrm>
            <a:off x="1936599" y="2812805"/>
            <a:ext cx="14831172" cy="6826496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B212668-5DC9-7C2D-DD8F-649CF2CCE3B8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F2D35C-81DB-14F4-F9F2-84555CB8D0CD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5FE9A51-4557-8AF7-576F-8596D529DC00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F53CB0A-9CEE-CD9F-D1D4-11B6EC09D89C}"/>
              </a:ext>
            </a:extLst>
          </p:cNvPr>
          <p:cNvSpPr txBox="1"/>
          <p:nvPr/>
        </p:nvSpPr>
        <p:spPr>
          <a:xfrm>
            <a:off x="304800" y="-184666"/>
            <a:ext cx="1053882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15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C64610E-E3F4-8A33-FA47-C365E3DB5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1A8A55-C25B-931E-DE46-091FBD97FAF4}"/>
              </a:ext>
            </a:extLst>
          </p:cNvPr>
          <p:cNvSpPr txBox="1"/>
          <p:nvPr/>
        </p:nvSpPr>
        <p:spPr>
          <a:xfrm>
            <a:off x="2711601" y="4218916"/>
            <a:ext cx="136398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Helps find blood donors quickly in emergency situations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Connects donors and patients by location and blood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Saves time by showing only matching blood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Keeps donor and patient information organized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Easy to use with a simple menu-based system</a:t>
            </a:r>
          </a:p>
        </p:txBody>
      </p:sp>
    </p:spTree>
    <p:extLst>
      <p:ext uri="{BB962C8B-B14F-4D97-AF65-F5344CB8AC3E}">
        <p14:creationId xmlns:p14="http://schemas.microsoft.com/office/powerpoint/2010/main" val="1320229762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6863C-315B-4BB5-6BF8-6743600B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57F835-E1F0-07C3-A082-ADE5B9A8FCA8}"/>
              </a:ext>
            </a:extLst>
          </p:cNvPr>
          <p:cNvSpPr/>
          <p:nvPr/>
        </p:nvSpPr>
        <p:spPr>
          <a:xfrm>
            <a:off x="5676900" y="501663"/>
            <a:ext cx="8343900" cy="158955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36EEC820-5408-393D-41E9-B7E404483676}"/>
              </a:ext>
            </a:extLst>
          </p:cNvPr>
          <p:cNvGrpSpPr/>
          <p:nvPr/>
        </p:nvGrpSpPr>
        <p:grpSpPr>
          <a:xfrm>
            <a:off x="1936599" y="2812805"/>
            <a:ext cx="14831172" cy="6826496"/>
            <a:chOff x="0" y="0"/>
            <a:chExt cx="2691003" cy="1280954"/>
          </a:xfrm>
          <a:solidFill>
            <a:schemeClr val="bg1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B38A2CC-26CF-53C2-FBE4-0B39314B3D7E}"/>
                </a:ext>
              </a:extLst>
            </p:cNvPr>
            <p:cNvSpPr/>
            <p:nvPr/>
          </p:nvSpPr>
          <p:spPr>
            <a:xfrm>
              <a:off x="0" y="0"/>
              <a:ext cx="2691003" cy="1280954"/>
            </a:xfrm>
            <a:custGeom>
              <a:avLst/>
              <a:gdLst/>
              <a:ahLst/>
              <a:cxnLst/>
              <a:rect l="l" t="t" r="r" b="b"/>
              <a:pathLst>
                <a:path w="2691003" h="1280954">
                  <a:moveTo>
                    <a:pt x="25056" y="0"/>
                  </a:moveTo>
                  <a:lnTo>
                    <a:pt x="2665947" y="0"/>
                  </a:lnTo>
                  <a:cubicBezTo>
                    <a:pt x="2672592" y="0"/>
                    <a:pt x="2678965" y="2640"/>
                    <a:pt x="2683664" y="7339"/>
                  </a:cubicBezTo>
                  <a:cubicBezTo>
                    <a:pt x="2688363" y="12038"/>
                    <a:pt x="2691003" y="18411"/>
                    <a:pt x="2691003" y="25056"/>
                  </a:cubicBezTo>
                  <a:lnTo>
                    <a:pt x="2691003" y="1255898"/>
                  </a:lnTo>
                  <a:cubicBezTo>
                    <a:pt x="2691003" y="1262543"/>
                    <a:pt x="2688363" y="1268917"/>
                    <a:pt x="2683664" y="1273615"/>
                  </a:cubicBezTo>
                  <a:cubicBezTo>
                    <a:pt x="2678965" y="1278314"/>
                    <a:pt x="2672592" y="1280954"/>
                    <a:pt x="2665947" y="1280954"/>
                  </a:cubicBezTo>
                  <a:lnTo>
                    <a:pt x="25056" y="1280954"/>
                  </a:lnTo>
                  <a:cubicBezTo>
                    <a:pt x="18411" y="1280954"/>
                    <a:pt x="12038" y="1278314"/>
                    <a:pt x="7339" y="1273615"/>
                  </a:cubicBezTo>
                  <a:cubicBezTo>
                    <a:pt x="2640" y="1268917"/>
                    <a:pt x="0" y="1262543"/>
                    <a:pt x="0" y="1255898"/>
                  </a:cubicBezTo>
                  <a:lnTo>
                    <a:pt x="0" y="25056"/>
                  </a:lnTo>
                  <a:cubicBezTo>
                    <a:pt x="0" y="18411"/>
                    <a:pt x="2640" y="12038"/>
                    <a:pt x="7339" y="7339"/>
                  </a:cubicBezTo>
                  <a:cubicBezTo>
                    <a:pt x="12038" y="2640"/>
                    <a:pt x="18411" y="0"/>
                    <a:pt x="25056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F6684CC-0B2A-0327-4E2F-9BDC797F62F3}"/>
                </a:ext>
              </a:extLst>
            </p:cNvPr>
            <p:cNvSpPr txBox="1"/>
            <p:nvPr/>
          </p:nvSpPr>
          <p:spPr>
            <a:xfrm>
              <a:off x="0" y="-47625"/>
              <a:ext cx="2691003" cy="1328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BCCA5A59-5228-1928-3DD5-D91DD34027E1}"/>
              </a:ext>
            </a:extLst>
          </p:cNvPr>
          <p:cNvSpPr txBox="1"/>
          <p:nvPr/>
        </p:nvSpPr>
        <p:spPr>
          <a:xfrm>
            <a:off x="3800475" y="3557343"/>
            <a:ext cx="12145451" cy="6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8"/>
              </a:lnSpc>
            </a:pPr>
            <a:endParaRPr lang="en-US" sz="3774" b="1" dirty="0">
              <a:latin typeface="Times New Roman" panose="02020603050405020304" pitchFamily="18" charset="0"/>
              <a:ea typeface="Roboto Bold"/>
              <a:cs typeface="Times New Roman" panose="02020603050405020304" pitchFamily="18" charset="0"/>
              <a:sym typeface="Roboto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FA31CDB-2F77-3D65-4F28-FB12D87DC4A3}"/>
              </a:ext>
            </a:extLst>
          </p:cNvPr>
          <p:cNvSpPr txBox="1"/>
          <p:nvPr/>
        </p:nvSpPr>
        <p:spPr>
          <a:xfrm>
            <a:off x="304800" y="-184666"/>
            <a:ext cx="1053882" cy="99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dirty="0">
                <a:latin typeface="Canva Sans Bold"/>
                <a:ea typeface="Canva Sans Bold"/>
                <a:cs typeface="Canva Sans Bold"/>
                <a:sym typeface="Canva Sans Bold"/>
              </a:rPr>
              <a:t>16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DEB9B74-816F-1128-A12A-DA79D0B54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2F801D-C187-80C7-B64A-4BA9DDE12AA4}"/>
              </a:ext>
            </a:extLst>
          </p:cNvPr>
          <p:cNvSpPr txBox="1"/>
          <p:nvPr/>
        </p:nvSpPr>
        <p:spPr>
          <a:xfrm>
            <a:off x="2711601" y="3409897"/>
            <a:ext cx="125764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This project successfully connects blood donors and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in need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It makes the blood request process faster and more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The system applies core OOP concepts using C#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It helped us improve our problem-solving and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The project can be improved further for real-world use in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future</a:t>
            </a:r>
          </a:p>
        </p:txBody>
      </p:sp>
    </p:spTree>
    <p:extLst>
      <p:ext uri="{BB962C8B-B14F-4D97-AF65-F5344CB8AC3E}">
        <p14:creationId xmlns:p14="http://schemas.microsoft.com/office/powerpoint/2010/main" val="2731238390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158" y="-571500"/>
            <a:ext cx="18288000" cy="6573157"/>
            <a:chOff x="0" y="0"/>
            <a:chExt cx="4905334" cy="1731202"/>
          </a:xfrm>
          <a:solidFill>
            <a:schemeClr val="bg1">
              <a:lumMod val="85000"/>
            </a:schemeClr>
          </a:solidFill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905334" cy="1731202"/>
            </a:xfrm>
            <a:custGeom>
              <a:avLst/>
              <a:gdLst/>
              <a:ahLst/>
              <a:cxnLst/>
              <a:rect l="l" t="t" r="r" b="b"/>
              <a:pathLst>
                <a:path w="4905334" h="1731202">
                  <a:moveTo>
                    <a:pt x="10392" y="0"/>
                  </a:moveTo>
                  <a:lnTo>
                    <a:pt x="4894942" y="0"/>
                  </a:lnTo>
                  <a:cubicBezTo>
                    <a:pt x="4900682" y="0"/>
                    <a:pt x="4905334" y="4653"/>
                    <a:pt x="4905334" y="10392"/>
                  </a:cubicBezTo>
                  <a:lnTo>
                    <a:pt x="4905334" y="1720810"/>
                  </a:lnTo>
                  <a:cubicBezTo>
                    <a:pt x="4905334" y="1726549"/>
                    <a:pt x="4900682" y="1731202"/>
                    <a:pt x="4894942" y="1731202"/>
                  </a:cubicBezTo>
                  <a:lnTo>
                    <a:pt x="10392" y="1731202"/>
                  </a:lnTo>
                  <a:cubicBezTo>
                    <a:pt x="7636" y="1731202"/>
                    <a:pt x="4993" y="1730107"/>
                    <a:pt x="3044" y="1728158"/>
                  </a:cubicBezTo>
                  <a:cubicBezTo>
                    <a:pt x="1095" y="1726209"/>
                    <a:pt x="0" y="1723566"/>
                    <a:pt x="0" y="1720810"/>
                  </a:cubicBezTo>
                  <a:lnTo>
                    <a:pt x="0" y="10392"/>
                  </a:lnTo>
                  <a:cubicBezTo>
                    <a:pt x="0" y="4653"/>
                    <a:pt x="4653" y="0"/>
                    <a:pt x="10392" y="0"/>
                  </a:cubicBez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905334" cy="174072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CE2213-0332-61D5-F4E9-C201035A105B}"/>
              </a:ext>
            </a:extLst>
          </p:cNvPr>
          <p:cNvSpPr/>
          <p:nvPr/>
        </p:nvSpPr>
        <p:spPr>
          <a:xfrm>
            <a:off x="2671549" y="4879853"/>
            <a:ext cx="13258800" cy="2057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7830" y="5446432"/>
            <a:ext cx="17972339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sz="5099" b="1" i="1" dirty="0">
                <a:latin typeface="Times New Roman" panose="02020603050405020304" pitchFamily="18" charset="0"/>
                <a:ea typeface="ABeeZee Italics"/>
                <a:cs typeface="Times New Roman" panose="02020603050405020304" pitchFamily="18" charset="0"/>
                <a:sym typeface="ABeeZee Italics"/>
              </a:rPr>
              <a:t>Thank you for listening to our presentation.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51468" y="9848097"/>
            <a:ext cx="6132748" cy="43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sz="2511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Uttara University 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860</Words>
  <Application>Microsoft Office PowerPoint</Application>
  <PresentationFormat>Custom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Abhaya Libre</vt:lpstr>
      <vt:lpstr>Calibri</vt:lpstr>
      <vt:lpstr>Canva Sans</vt:lpstr>
      <vt:lpstr>Arial</vt:lpstr>
      <vt:lpstr>Akar</vt:lpstr>
      <vt:lpstr>Canva Sans Bold</vt:lpstr>
      <vt:lpstr>Times New Roman</vt:lpstr>
      <vt:lpstr>Helvetica World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Simple Formal Seminar Proposal Presentation</dc:title>
  <dc:creator>User</dc:creator>
  <cp:lastModifiedBy>Asad j Nayeem</cp:lastModifiedBy>
  <cp:revision>9</cp:revision>
  <dcterms:created xsi:type="dcterms:W3CDTF">2006-08-16T00:00:00Z</dcterms:created>
  <dcterms:modified xsi:type="dcterms:W3CDTF">2026-01-02T14:11:39Z</dcterms:modified>
  <dc:identifier>DAG6NDZj37I</dc:identifier>
</cp:coreProperties>
</file>